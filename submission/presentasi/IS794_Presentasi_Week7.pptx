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Pembuka: masalah, ruang lingkup satu tomat, dan tujuan penelitian. Jangan menjanjikan keamanan pangan.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perbedaan kesegaran, kematangan, dan keamanan pangan.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Rujukan lengkap pada akhir slide. Bandingkan metode, bukan mengklaim lebih baik dari akurasi artikel.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Asal pemotretan sumber lama belum dikonfirmasi. Minimum 100 primer belum terbukti oleh jumlah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Contoh berasal dari training sumber lama. Jangan menyebut sumber sebagai foto kamera tanpa bukti.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bagaimana latar sama di train dan test dapat membuat akurasi semu.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Alasan letterbox: menjaga aspek rasio. Warna tidak diganti ekstrem.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rencana, bukan hasil yang sudah terkumpul. Minimal administratif tidak menjamin generalisasi.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Referensi halaman penerbit diverifikasi pada 7 Oktober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Artikel lama dipakai untuk fondasi metode. Pertanyaan: mengapa accuracy belum tinggi? Data dan validasi sangat kecil.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Tomato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Klasifikasi kondisi visual tomat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IS794 • Deep Learning • Ganjil 2026–2027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Segar / tidak segar / busuk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Identitas tim: gabungkan dari dokumen terpisah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Masalah &amp; tujuan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Apa yang ingin dijawab?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Membedakan keriput dan kerusakan permukaan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Menguji CNN pada data kecil dengan split sesi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Menyediakan prediksi dan analisis yang dapat diperiksa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Peta literatur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Tugas sama belum berarti benchmark sama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[1] ResNet-101 + attention; [2] distilasi ViT → CNN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[3] YOLO kualitas tomat; [4] YOLOv4 buah/sayur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[5] AlexNet transfer learning; proyek ini CNN dari 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Inventaris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127 gambar ≠ 127 data primer terverifikasi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60 sumber lama berlabel • 45 sintetis • 22 impor review</a:t>
            </a:r>
          </a:p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4 salinan impor tidak dihitung ulang</a:t>
            </a:r>
          </a:p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360 augmentasi tersimpan terpisah</a:t>
            </a:r>
          </a:p>
        </p:txBody>
      </p:sp>
      <p:pic>
        <p:nvPicPr>
          <p:cNvPr id="6" name="Picture 5" descr="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704338"/>
            <a:ext cx="6492240" cy="2272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Akuisisi &amp; kurasi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Jejak sumber dan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Simpan sumber, tanggal, buah, sesi, dan kondisi</a:t>
            </a:r>
          </a:p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Kriteria visual tiga kelas; label ambigu ditunda</a:t>
            </a:r>
          </a:p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Prediksi model tidak dijadikan ground truth</a:t>
            </a:r>
          </a:p>
        </p:txBody>
      </p:sp>
      <p:pic>
        <p:nvPicPr>
          <p:cNvPr id="6" name="Picture 5" descr="training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758440"/>
            <a:ext cx="6492240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Cleaning &amp;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Satu buah/sesi tetap satu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SHA-256 + hash piksel + pemeriksaan kemiripan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48 train / 6 validation / 6 test terkunci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Grup sesi: 7 / 2 / 2; split historis bocor ditinggalkan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Satu loader untuk training dan inferensi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EXIF → RGB → letterbox 128 × 128 → [0,1]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Flip, rotasi, zoom, kontras: training saja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Sampling 120/kelas bukan 120 buah baru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Rencana akuisisi berikutnya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Penuhi jumlah dan keragaman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Target rencana: 120 gambar primer, sekitar 40 per kelas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Catat buah independen, sesi, kamera, cahaya, dan latar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Periksa duplikat dan konfirmasi label sebelum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Referensi 1–4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Jurnal terkait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[1] Shu, Y., Zhang, J., Wang, Y., &amp; Wei, Y. (2025). Fruit Freshness Classification and Detection Based on the ResNet-101 Network and Non-Local Attention Mechanism. Foods, 14, 1987.</a:t>
            </a:r>
          </a:p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https://www.mdpi.com/2304-8158/14/11/1987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24912"/>
            <a:ext cx="1097280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[2] Demirel, S., &amp; Yıldız, O. (2025). VisDist-Net: A New Lightweight Model for Fruit Freshness Classification. Food Analytical Methods, 18, 229–244.</a:t>
            </a:r>
          </a:p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https://link.springer.com/article/10.1007/s12161-024-02716-4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03904"/>
            <a:ext cx="1097280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[3] Mokhtar, Y. A., &amp; Seddik, E. H. (2025). Real-time object detection and diagnosis of tomato quality using YOLO. Robotics: Integration, Manufacturing and Control, 2(2).</a:t>
            </a:r>
          </a:p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https://apc.aast.edu/ojs/index.php/RIMC/article/view/RIMC.2025.02.2.1846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82896"/>
            <a:ext cx="1097280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[4] Mukhiddinov, M., Muminov, A., &amp; Cho, J. (2022). Improved Classification Approach for Fruits and Vegetables Freshness Based on Deep Learning. Sensors, 22, 8192.</a:t>
            </a:r>
          </a:p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https://www.mdpi.com/1424-8220/22/21/8192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Referensi 5–8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Jurnal dan dasar metode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[5] Amin, U., Shahzad, M. I., Shahzad, A., Shahzad, M., Khan, U., &amp; Mahmood, Z. (2023). Automatic Fruits Freshness Classification Using CNN and Transfer Learning. Applied Sciences, 13, 8087.</a:t>
            </a:r>
          </a:p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https://www.mdpi.com/2076-3417/13/14/8087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24912"/>
            <a:ext cx="1097280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[6] Shorten, C., &amp; Khoshgoftaar, T. M. (2019). A survey on Image Data Augmentation for Deep Learning. Journal of Big Data, 6, 60.</a:t>
            </a:r>
          </a:p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https://link.springer.com/article/10.1186/s40537-019-0197-0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03904"/>
            <a:ext cx="1097280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[7] Wu, Y., &amp; He, K. (2018). Group Normalization. ECCV, pp. 3–19.</a:t>
            </a:r>
          </a:p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https://www.ecva.net/papers/eccv_2018/papers_ECCV/html/Yuxin_Wu_Group_Normalization_ECCV_2018_paper.php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82896"/>
            <a:ext cx="1097280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[8] He, K., Zhang, X., Ren, S., &amp; Sun, J. (2016). Deep Residual Learning for Image Recognition. CVPR, pp. 770–778.</a:t>
            </a:r>
          </a:p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https://openaccess.thecvf.com/content_cvpr_2016/html/He_Deep_Residual_Learning_CVPR_2016_paper.html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