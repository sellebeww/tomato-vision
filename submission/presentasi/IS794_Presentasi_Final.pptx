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masalah, ruang lingkup satu tomat, dan tujuan penelitian. Jangan menjanjikan keamanan 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perbedaan kesegaran, kematangan, dan keamanan 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Rujukan lengkap pada akhir slide. Bandingkan metode, bukan mengklaim lebih baik dari akurasi artikel.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Asal pemotretan sumber lama belum dikonfirmasi. Minimum 100 primer belum terbukti oleh jumlah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berasal dari training sumber lama. Jangan menyebut sumber sebagai foto kamera tanpa 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bagaimana latar sama di train dan test dapat membuat akurasi semu.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Alasan letterbox: menjaga aspek rasio. Warna tidak diganti ekstrem.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rencana, bukan hasil yang sudah terkumpul. Minimal administratif tidak menjamin generalisasi.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memetakan seluruh tahap. Jangan mengubah test untuk memperbaiki skor.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Regularized sekitar 77% lebih sedikit parameter. Ini tidak otomatis berarti akurasi lebih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training accuracy vs validation accuracy serta mengapa test tidak dipakai untuk seleksi.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dari run.json dan history.json. Jangan gunakan angka historis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Bahas implikasi salah klasifikasi busuk. Model tidak boleh menggantikan pemeriksaan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bahwa confident prediction belum tentu benar. Label perlu observasi, bukan menyalin prediksi.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Ambang 0,7 sudah ada di konfigurasi. Jangan menyebut 75% sebagai accuracy keseluruhan; hanya empat gambar yang diterima.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Tujuan menghindari petunjuk palsu: air tidak berarti busuk. Foto terlalu buram harus diambil ulang. Dampak pada akurasi belum dibuktikan.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Demokan satu gambar dan probabilitas. Gunakan perintah lengkap dari laporan; siapkan model lokal bila internet gagal.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anggota menyampaikan bagian sesuai kontribusi nyata. Jangan mengada-ada kontribusi atau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Referensi halaman penerbit diverifikasi pada 7 Oktober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Artikel lama dipakai untuk fondasi metode. Pertanyaan: mengapa accuracy belum tinggi? Data dan validasi sangat kecil.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Tomato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Klasifikasi kondisi visual tomat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IS794 • Deep Learning • Ganjil 2026–2027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Segar / tidak segar / busuk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Identitas tim: gabungkan dari dokumen terpisah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Masalah &amp;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Apa yang ingin dijawab?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Membedakan keriput dan kerusakan permukaan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Menguji CNN pada data kecil dengan split sesi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Menyediakan prediksi dan analisis yang dapat diperiksa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Peta literatur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Tugas sama belum berarti benchmark sama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[1] ResNet-101 + attention; [2] distilasi ViT → CNN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[3] YOLO kualitas tomat; [4] YOLOv4 buah/sayur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[5] AlexNet transfer learning; proyek ini CNN dari 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Inventaris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127 gambar ≠ 127 data primer terverifikasi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60 sumber lama berlabel • 45 sintetis • 22 impor review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4 salinan impor tidak dihitung ulang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360 augmentasi tersimpan terpisah</a:t>
            </a:r>
          </a:p>
        </p:txBody>
      </p:sp>
      <p:pic>
        <p:nvPicPr>
          <p:cNvPr id="6" name="Picture 5" descr="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04338"/>
            <a:ext cx="6492240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Akuisisi &amp; kurasi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Jejak sumber dan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Simpan sumber, tanggal, buah, sesi, dan kondisi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Kriteria visual tiga kelas; label ambigu ditunda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Prediksi model tidak dijadikan ground truth</a:t>
            </a:r>
          </a:p>
        </p:txBody>
      </p:sp>
      <p:pic>
        <p:nvPicPr>
          <p:cNvPr id="6" name="Picture 5" descr="training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58440"/>
            <a:ext cx="6492240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Cleaning &amp;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Satu buah/sesi tetap satu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SHA-256 + hash piksel + pemeriksaan kemiripan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48 train / 6 validation / 6 test terkunci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Grup sesi: 7 / 2 / 2; split historis bocor ditinggalkan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Satu loader untuk training dan inferensi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EXIF → RGB → letterbox 128 × 128 → [0,1]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Flip, rotasi, zoom, kontras: training saja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Sampling 120/kelas bukan 120 buah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Rencana akuisisi berikutnya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Penuhi jumlah dan keragaman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Target rencana: 120 gambar primer, sekitar 40 per kelas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Catat buah independen, sesi, kamera, cahaya, dan latar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Periksa duplikat dan konfirmasi label sebelum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Kerangka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Dari inventaris hingga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Sumber → kurasi → split → training → validation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Pemilihan model sebelum membuka test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Dataset tambahan belum masuk hasil eksperimen ini</a:t>
            </a:r>
          </a:p>
        </p:txBody>
      </p:sp>
      <p:pic>
        <p:nvPicPr>
          <p:cNvPr id="6" name="Picture 5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866644"/>
            <a:ext cx="6492240" cy="1947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Dua CNN dari 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Arsitektur dan efisiensi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Baseline augmented: 423.619 parameter, BatchNorm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Regularized: 96.019 parameter, residual separable conv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GroupNorm + dropout + L2; softmax tiga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Training &amp; seleksi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Konfigurasi dapat diulang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Adam • LR 0,001 • batch 16 • seed 42 • maksimum 20 epoch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Early stopping berdasarkan validation loss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Pilih macro-F1, lalu loss jika F1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Hasil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4 dari 6 gambar benar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Kedua kandidat: accuracy 66,7%; macro-F1 0,656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Regularized loss 0,538; baseline augmented 0,904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Regularized dipilih; test final belum dinilai</a:t>
            </a:r>
          </a:p>
        </p:txBody>
      </p:sp>
      <p:pic>
        <p:nvPicPr>
          <p:cNvPr id="6" name="Picture 5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704338"/>
            <a:ext cx="6492240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Analisis kesalahan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Kelas berdekatan masih tertukar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Tidak segar → segar: 1 gambar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Busuk → tidak segar: 1 gambar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Validation hanya dua sesi; satu salah = 16,7 poin</a:t>
            </a:r>
          </a:p>
        </p:txBody>
      </p:sp>
      <p:pic>
        <p:nvPicPr>
          <p:cNvPr id="6" name="Picture 5" descr="validation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901" y="1645920"/>
            <a:ext cx="5775157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Foto impor &amp; generalisasi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Diagnostik tanpa label aktual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22 unik: 18 prediksi busuk, 4 tidak segar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14 perlu review; belum dapat dihitung akurasinya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Latar ramai / objek kecil: hipotesis domain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Prediksi selektif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Accuracy subset selalu dibaca bersama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Selalu klasifikasi: 4/6 benar, coverage 100%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Aturan review: 3/4 benar, coverage 66,7%</a:t>
            </a:r>
          </a:p>
          <a:p>
            <a:pPr>
              <a:spcAft>
                <a:spcPts val="1400"/>
              </a:spcAft>
              <a:defRPr sz="2200" b="0">
                <a:solidFill>
                  <a:srgbClr val="243C34"/>
                </a:solidFill>
              </a:defRPr>
            </a:pPr>
            <a:r>
              <a:t>• Satu kesalahan masih lolos; belum ada bukti manfaat guard tambahan</a:t>
            </a:r>
          </a:p>
        </p:txBody>
      </p:sp>
      <p:pic>
        <p:nvPicPr>
          <p:cNvPr id="6" name="Picture 5" descr="risk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17420"/>
            <a:ext cx="649224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Variasi untuk stress-test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Air, jarak, dan blur bukan label kesegaran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Permukaan kering/basah, blur ringan, objek dekat/jauh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Faktor adegan dibagi di ketiga kelas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Atribut rancangan perlu tinjauan; bukan bukti efek kausal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Demo &amp; reproduksi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Notebook dan aplikasi lokal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Notebook: EDA → CNN → training opsional → evaluasi → inferensi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Demo lokal memakai --run own_v3_augmented/regularized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Model situs historis bukan hasil 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Kesimpulan &amp; batas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Prototipe berfungsi; bukti masih terbatas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CNN dan metrik relevan tersedia; 127 gambar terinventaris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Syarat 100 primer belum terbukti; 22 label belum dikonfirmasi</a:t>
            </a:r>
          </a:p>
          <a:p>
            <a:pPr>
              <a:spcAft>
                <a:spcPts val="1400"/>
              </a:spcAft>
              <a:defRPr sz="2500" b="0">
                <a:solidFill>
                  <a:srgbClr val="243C34"/>
                </a:solidFill>
              </a:defRPr>
            </a:pPr>
            <a:r>
              <a:t>• Lanjutkan akuisisi, verifikasi, dan test independen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Referensi 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Jurnal terkait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[1] Shu, Y., Zhang, J., Wang, Y., &amp; Wei, Y. (2025). Fruit Freshness Classification and Detection Based on the ResNet-101 Network and Non-Local Attention Mechanism. Foods, 14, 1987.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https://www.mdpi.com/2304-8158/14/11/1987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24912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[2] Demirel, S., &amp; Yıldız, O. (2025). VisDist-Net: A New Lightweight Model for Fruit Freshness Classification. Food Analytical Methods, 18, 229–244.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https://link.springer.com/article/10.1007/s12161-024-02716-4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03904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[3] Mokhtar, Y. A., &amp; Seddik, E. H. (2025). Real-time object detection and diagnosis of tomato quality using YOLO. Robotics: Integration, Manufacturing and Control, 2(2).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https://apc.aast.edu/ojs/index.php/RIMC/article/view/RIMC.2025.02.2.1846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82896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[4] Mukhiddinov, M., Muminov, A., &amp; Cho, J. (2022). Improved Classification Approach for Fruits and Vegetables Freshness Based on Deep Learning. Sensors, 22, 8192.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https://www.mdpi.com/1424-8220/22/21/8192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7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43C34"/>
                </a:solidFill>
              </a:defRPr>
            </a:pPr>
            <a:r>
              <a:t>Referensi 5–8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76E"/>
                </a:solidFill>
              </a:defRPr>
            </a:pPr>
            <a:r>
              <a:t>Jurnal dan dasar metode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[5] Amin, U., Shahzad, M. I., Shahzad, A., Shahzad, M., Khan, U., &amp; Mahmood, Z. (2023). Automatic Fruits Freshness Classification Using CNN and Transfer Learning. Applied Sciences, 13, 8087.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https://www.mdpi.com/2076-3417/13/14/8087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24912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[6] Shorten, C., &amp; Khoshgoftaar, T. M. (2019). A survey on Image Data Augmentation for Deep Learning. Journal of Big Data, 6, 60.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https://link.springer.com/article/10.1186/s40537-019-0197-0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03904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[7] Wu, Y., &amp; He, K. (2018). Group Normalization. ECCV, pp. 3–19.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https://www.ecva.net/papers/eccv_2018/papers_ECCV/html/Yuxin_Wu_Group_Normalization_ECCV_2018_paper.php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82896"/>
            <a:ext cx="1097280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[8] He, K., Zhang, X., Ren, S., &amp; Sun, J. (2016). Deep Residual Learning for Image Recognition. CVPR, pp. 770–778.</a:t>
            </a:r>
          </a:p>
          <a:p>
            <a:pPr>
              <a:spcAft>
                <a:spcPts val="1400"/>
              </a:spcAft>
              <a:defRPr sz="1300" b="0">
                <a:solidFill>
                  <a:srgbClr val="243C34"/>
                </a:solidFill>
              </a:defRPr>
            </a:pPr>
            <a:r>
              <a:t>https://openaccess.thecvf.com/content_cvpr_2016/html/He_Deep_Residual_Learning_CVPR_2016_paper.html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64776E"/>
                </a:solidFill>
              </a:defRPr>
            </a:pPr>
            <a:r>
              <a:t>IS794  •  Tomato Vision  |  7 Oktober 2026                                  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